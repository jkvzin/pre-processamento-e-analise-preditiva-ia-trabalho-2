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Calibri Light"/>
              </a:defRPr>
            </a:pPr>
            <a:r>
              <a:t>Pre-processamento e</a:t>
            </a:r>
            <a:br/>
            <a:r>
              <a:t>Analise Preditiva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2286000" cy="4572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DDDDDD"/>
                </a:solidFill>
                <a:latin typeface="Calibri"/>
              </a:defRPr>
            </a:pPr>
            <a:r>
              <a:t>Breast Cancer Wisconsin (Original) — UCI ML Repository (id=15)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Joao Victor Borges Carvalho  |  Inteligencia Artificial</a:t>
            </a:r>
            <a:br/>
            <a:r>
              <a:t>Implementacao from scratch — Python puro + math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46320"/>
            <a:ext cx="2560320" cy="118872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834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699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DD"/>
                </a:solidFill>
                <a:latin typeface="Calibri"/>
              </a:defRPr>
            </a:pPr>
            <a:r>
              <a:t>amostras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4846320"/>
            <a:ext cx="2560320" cy="118872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9834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683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532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DD"/>
                </a:solidFill>
                <a:latin typeface="Calibri"/>
              </a:defRPr>
            </a:pPr>
            <a:r>
              <a:t>exemplos validos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846320"/>
            <a:ext cx="2560320" cy="118872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49834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5532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DD"/>
                </a:solidFill>
                <a:latin typeface="Calibri"/>
              </a:defRPr>
            </a:pPr>
            <a:r>
              <a:t>caracteristicas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60" y="4846320"/>
            <a:ext cx="2560320" cy="118872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49834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532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DDDDD"/>
                </a:solidFill>
                <a:latin typeface="Calibri"/>
              </a:defRPr>
            </a:pPr>
            <a:r>
              <a:t>notas de patologistas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7A8A"/>
                </a:solidFill>
                <a:latin typeface="Calibri Light"/>
              </a:defRPr>
            </a:pPr>
            <a:r>
              <a:t>Notebook 1: Analise Exploratoria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607040" cy="27432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Etapas 1 a 5  |  683 exemplos validos  |  9 features  |  Quantitativo Discreto  |  Escala Intervalar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1: Atributo Alvo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2222"/>
                </a:solidFill>
                <a:latin typeface="Calibri"/>
              </a:defRPr>
            </a:pPr>
            <a:r>
              <a:t>Class: ultima coluna (indice 9). Classes originais:</a:t>
            </a:r>
            <a:br/>
            <a:r>
              <a:t>  2 -&gt; 0 (Benigno)  |  4 -&gt; 1 (Maligno)</a:t>
            </a:r>
            <a:br/>
            <a:r>
              <a:t>Conversao padrao para classificacao binaria.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2: Tipos de Dados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2222"/>
                </a:solidFill>
                <a:latin typeface="Calibri"/>
              </a:defRPr>
            </a:pPr>
            <a:r>
              <a:t>Todos Quantitativo Discreto — notas inteiras de 1 a 10.</a:t>
            </a:r>
            <a:br/>
            <a:r>
              <a:t>Bare_nuclei aparece como 1.0, 10.0 no CSV, mas o .0</a:t>
            </a:r>
            <a:br/>
            <a:r>
              <a:t>e so artefato de formatacao — o dado real e inteiro.</a:t>
            </a:r>
            <a:br/>
            <a:r>
              <a:t>Mitoses: 9 valores distintos; demais: 10 valores.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3: Escala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2222"/>
                </a:solidFill>
                <a:latin typeface="Calibri"/>
              </a:defRPr>
            </a:pPr>
            <a:r>
              <a:t>Intervalar Discreta — intervalos aproximadamente constantes</a:t>
            </a:r>
            <a:br/>
            <a:r>
              <a:t>entre notas consecutivas. Sem zero absoluto: nota 1 e</a:t>
            </a:r>
            <a:br/>
            <a:r>
              <a:t>o piso da escala, nao ausencia total da caracteristica.</a:t>
            </a:r>
            <a:br/>
            <a:r>
              <a:t>Literatura medica trata como intervalar para estatistica parametrica.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051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4: Estatisticas Descritivas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7A8A"/>
                </a:solidFill>
                <a:latin typeface="Calibri"/>
              </a:defRPr>
            </a:pPr>
            <a:r>
              <a:t>Atributo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7A8A"/>
                </a:solidFill>
                <a:latin typeface="Calibri"/>
              </a:defRPr>
            </a:pPr>
            <a:r>
              <a:t>Media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13716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7A8A"/>
                </a:solidFill>
                <a:latin typeface="Calibri"/>
              </a:defRPr>
            </a:pPr>
            <a:r>
              <a:t>Var.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137160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B7A8A"/>
                </a:solidFill>
                <a:latin typeface="Calibri"/>
              </a:defRPr>
            </a:pPr>
            <a:r>
              <a:t>IQR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0020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0392B"/>
                </a:solidFill>
                <a:latin typeface="Calibri"/>
              </a:defRPr>
            </a:pPr>
            <a:r>
              <a:t>Bare nuclei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6002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392B"/>
                </a:solidFill>
                <a:latin typeface="Calibri"/>
              </a:defRPr>
            </a:pPr>
            <a:r>
              <a:t>3.54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6002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392B"/>
                </a:solidFill>
                <a:latin typeface="Calibri"/>
              </a:defRPr>
            </a:pPr>
            <a:r>
              <a:t>13.28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160020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392B"/>
                </a:solidFill>
                <a:latin typeface="Calibri"/>
              </a:defRPr>
            </a:pPr>
            <a: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80136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2222"/>
                </a:solidFill>
                <a:latin typeface="Calibri"/>
              </a:defRPr>
            </a:pPr>
            <a:r>
              <a:t>Uniformity cell size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180136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3.15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180136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9.40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180136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4.0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00253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2222"/>
                </a:solidFill>
                <a:latin typeface="Calibri"/>
              </a:defRPr>
            </a:pPr>
            <a:r>
              <a:t>Uniformity cell shape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00253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3.22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00253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8.93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00253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4.0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203704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2222"/>
                </a:solidFill>
                <a:latin typeface="Calibri"/>
              </a:defRPr>
            </a:pPr>
            <a:r>
              <a:t>Clump thickness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220370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4.44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220370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7.96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20370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4.0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40487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2222"/>
                </a:solidFill>
                <a:latin typeface="Calibri"/>
              </a:defRPr>
            </a:pPr>
            <a:r>
              <a:t>Mitoses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240487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1.60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40487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3.00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24048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22222"/>
                </a:solidFill>
                <a:latin typeface="Calibri"/>
              </a:defRPr>
            </a:pPr>
            <a: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97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2222"/>
                </a:solidFill>
                <a:latin typeface="Calibri"/>
              </a:defRPr>
            </a:pPr>
            <a:r>
              <a:t>Bare_nuclei: maior variancia (13.28) e IQR (5.0) — melhor discriminador.</a:t>
            </a:r>
            <a:br/>
            <a:r>
              <a:t>Mitoses: IQR = 0.0 — maioria absoluta dos valores = 1. Menos informativo.</a:t>
            </a:r>
            <a:br/>
            <a:r>
              <a:t>Moda = 1 na maioria dos atributos. Dados assimetricos a direita.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429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Distribuicao das Classes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74903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2222"/>
                </a:solidFill>
                <a:latin typeface="Calibri"/>
              </a:defRPr>
            </a:pPr>
            <a:r>
              <a:t>Benignos (0): 444 (65.0%)  |  Malignos (1): 239 (35.0%)</a:t>
            </a:r>
            <a:br/>
            <a:r>
              <a:t>Razao benigno/maligno: 1.86:1 — relativamente balanceado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434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5: Separacao Treino/Teste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548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2222"/>
                </a:solidFill>
                <a:latin typeface="Calibri"/>
              </a:defRPr>
            </a:pPr>
            <a:r>
              <a:t>Hold-out 80/20 estratificado (seed=42).</a:t>
            </a:r>
            <a:br/>
            <a:r>
              <a:t>Treino: 546 exemplos (355 benignos, 191 malignos)</a:t>
            </a:r>
            <a:br/>
            <a:r>
              <a:t>Teste: 137 exemplos (89 benignos, 48 malignos)</a:t>
            </a:r>
            <a:br/>
            <a:r>
              <a:t>Proporcao de malignos preservada nos dois conjuntos (~35%).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572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Graficos Gerados (3)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8920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2222"/>
                </a:solidFill>
                <a:latin typeface="Calibri"/>
              </a:defRPr>
            </a:pPr>
            <a:r>
              <a:t>histogramas_por_classe.png — grid 3x3, benigno vs maligno</a:t>
            </a:r>
            <a:br/>
            <a:r>
              <a:t>boxplots_por_classe.png — grid 3x3, comparativo</a:t>
            </a:r>
            <a:br/>
            <a:r>
              <a:t>distribuicao_classes.png — barras, proporcao das classes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7A8A"/>
                </a:solidFill>
                <a:latin typeface="Calibri Light"/>
              </a:defRPr>
            </a:pPr>
            <a:r>
              <a:t>Notebook 2: Pre-processamento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607040" cy="27432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Etapas 6 a 10  |  546 -&gt; 362 exemplos apos limpeza  |  Min-Max [0,1]  |  Pearson: 9/9 features mantidas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5120640" cy="155448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88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Etapa 6: Eliminacao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DDDDDD"/>
                </a:solidFill>
                <a:latin typeface="Calibri"/>
              </a:defRPr>
            </a:pPr>
            <a:r>
              <a:t>0 colunas removidas (variancia &gt; 0 em todas).</a:t>
            </a:r>
            <a:br/>
            <a:r>
              <a:t>184 duplicatas removidas — inflavam artificialmente</a:t>
            </a:r>
            <a:br/>
            <a:r>
              <a:t>padroes no treino. 546 -&gt; 362 exemplos.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120640" cy="155448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188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Etapa 7: Desbalanceamento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DDDDDD"/>
                </a:solidFill>
                <a:latin typeface="Calibri"/>
              </a:defRPr>
            </a:pPr>
            <a:r>
              <a:t>Apos limpeza: 48% benigno (173), 52% maligno (189).</a:t>
            </a:r>
            <a:br/>
            <a:r>
              <a:t>Razao 1.09:1 — naturalmente balanceado.</a:t>
            </a:r>
            <a:br/>
            <a:r>
              <a:t>SEM SMOTE: intervencao artificial faria mais mal que bem.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40"/>
            <a:ext cx="5120640" cy="155448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Etapa 8a: Outliers (IQR)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4612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DDDDDD"/>
                </a:solidFill>
                <a:latin typeface="Calibri"/>
              </a:defRPr>
            </a:pPr>
            <a:r>
              <a:t>68 outliers detectados: 23 em Single_epithelial,</a:t>
            </a:r>
            <a:br/>
            <a:r>
              <a:t>45 em Mitoses. Decisao: MANTER TODOS.</a:t>
            </a:r>
            <a:br/>
            <a:r>
              <a:t>Contexto medico: nota 10 = severidade, nao erro.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834640"/>
            <a:ext cx="5120640" cy="155448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26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Etapa 8b-d: Inconsistentes / Redundantes / Ausentes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4612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DDDDDD"/>
                </a:solidFill>
                <a:latin typeface="Calibri"/>
              </a:defRPr>
            </a:pPr>
            <a:r>
              <a:t>0 inconsistentes (todos em [1,10]).</a:t>
            </a:r>
            <a:br/>
            <a:r>
              <a:t>0 ausentes no treino (16 linhas filtradas na Etapa 1).</a:t>
            </a:r>
            <a:br/>
            <a:r>
              <a:t>Imputacao: MODA, nao media — dados discretos (1-10).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72000"/>
            <a:ext cx="5120640" cy="155448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63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Etapa 9: Normalizacao Min-Max [0, 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DDDDDD"/>
                </a:solidFill>
                <a:latin typeface="Calibri"/>
              </a:defRPr>
            </a:pPr>
            <a:r>
              <a:t>Parametros (min, max) do TREINO aplicados ao teste.</a:t>
            </a:r>
            <a:br/>
            <a:r>
              <a:t>Essencial: K-NN (distancia euclidiana) e MLP (sigmoid).</a:t>
            </a:r>
            <a:br/>
            <a:r>
              <a:t>Preserva estrutura da distribuicao original (1-10).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72000"/>
            <a:ext cx="5120640" cy="155448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663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Etapa 10: Correlacao de Pearson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DDDDDD"/>
                </a:solidFill>
                <a:latin typeface="Calibri"/>
              </a:defRPr>
            </a:pPr>
            <a:r>
              <a:t>Todas com |r| &gt;= 0.10: 9/9 features mantidas.</a:t>
            </a:r>
            <a:br/>
            <a:r>
              <a:t>Bare_nuclei (r=+0.77), Mitoses (r=+0.36).</a:t>
            </a:r>
            <a:br/>
            <a:r>
              <a:t>Pearson em vez de PCA: implementavel do zero, interpretavel.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7A8A"/>
                </a:solidFill>
                <a:latin typeface="Calibri Light"/>
              </a:defRPr>
            </a:pPr>
            <a:r>
              <a:t>Notebook 3: Modelagem Preditiva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36208"/>
            <a:ext cx="10607040" cy="27432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Etapas 2.1 a 2.7  |  137 exemplos de teste  |  Classe positiva = 1 (Maligno)  |  Metrica principal: F1-Score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2.1: Validacao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22222"/>
                </a:solidFill>
                <a:latin typeface="Calibri"/>
              </a:defRPr>
            </a:pPr>
            <a:r>
              <a:t>Hold-out 80/20 estratificado (seed=42) — mesmo split da Etapa 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2.2: Metricas (6, todas do zero)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22222"/>
                </a:solidFill>
                <a:latin typeface="Calibri"/>
              </a:defRPr>
            </a:pPr>
            <a:r>
              <a:t>Matriz de Confusao (TP,TN,FP,FN)  |  Acuracia  |  Precisao</a:t>
            </a:r>
            <a:br/>
            <a:r>
              <a:t>Recall (Sensibilidade) — MAIS CRITICA: falso negativo = cancer nao detectado</a:t>
            </a:r>
            <a:br/>
            <a:r>
              <a:t>Especificidade  |  F1-Score — media harmonica P e R, criterio de desempate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Etapa 2.3: Baseline (Classe Majoritaria)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5303520" cy="59436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99232"/>
            <a:ext cx="5029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Calibri"/>
              </a:defRPr>
            </a:pPr>
            <a:r>
              <a:t>Sempre prediz Maligno (52.2% no treino). Piso minimo: F1 = 0.5189</a:t>
            </a:r>
            <a:br/>
            <a:r>
              <a:t>Matriz: TN=0  FP=89  FN=0  TP=48  |  Recall=100% mas precisao=35% — inutil na pratica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051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7A8A"/>
                </a:solidFill>
                <a:latin typeface="Calibri"/>
              </a:defRPr>
            </a:pPr>
            <a:r>
              <a:t>Algoritmos Implementados do Zero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371600"/>
            <a:ext cx="5029200" cy="27432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89888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Etapa 2.4: K-NN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22222"/>
                </a:solidFill>
                <a:latin typeface="Calibri"/>
              </a:defRPr>
            </a:pPr>
            <a:r>
              <a:t>Distancia euclidiana + votacao majoritaria. Testado K in {1,3,5,7,9,11,15}.</a:t>
            </a:r>
            <a:br/>
            <a:r>
              <a:t>Melhor: K=3 (impar, evita empate). F1=0.9677, Precisao=100%, Recall=93.75%.</a:t>
            </a:r>
            <a:br/>
            <a:r>
              <a:t>Matriz: TN=89  FP=0  FN=3  TP=45. Zero falsos positivos!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200400"/>
            <a:ext cx="5029200" cy="274320"/>
          </a:xfrm>
          <a:prstGeom prst="rect">
            <a:avLst/>
          </a:prstGeom>
          <a:solidFill>
            <a:srgbClr val="1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218688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Etapa 2.5: Arvore C4.5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204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22222"/>
                </a:solidFill>
                <a:latin typeface="Calibri"/>
              </a:defRPr>
            </a:pPr>
            <a:r>
              <a:t>Gain Ratio (IG/SplitInfo) — corrige vies do IG puro. Poda por profundidade.</a:t>
            </a:r>
            <a:br/>
            <a:r>
              <a:t>Melhor: d=3, 15 nos. F1=0.9574, Precisao=97.83%, Recall=93.75%.</a:t>
            </a:r>
            <a:br/>
            <a:r>
              <a:t>Raiz: Uniformity_of_cell_size &lt;= 0.2778. Totalmente interpretavel.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029200"/>
            <a:ext cx="5029200" cy="274320"/>
          </a:xfrm>
          <a:prstGeom prst="rect">
            <a:avLst/>
          </a:prstGeom>
          <a:solidFill>
            <a:srgbClr val="1B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5047488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Etapa 2.6: MLP (Rede Neural)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92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22222"/>
                </a:solidFill>
                <a:latin typeface="Calibri"/>
              </a:defRPr>
            </a:pPr>
            <a:r>
              <a:t>Arquitetura 9-&gt;8-&gt;1, sigmoide, backpropagation + SGD manuais.</a:t>
            </a:r>
            <a:br/>
            <a:r>
              <a:t>500 epocas, lr=0.1, Xavier init. F1=0.9462, Precisao=97.78%, Recall=91.67%.</a:t>
            </a:r>
            <a:br/>
            <a:r>
              <a:t>Unica config. testada (limitacao de tempo) — F1 e lower 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