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B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 Light"/>
              </a:defRPr>
            </a:pPr>
            <a:r>
              <a:t>Pré-processamento e</a:t>
            </a:r>
            <a:br/>
            <a:r>
              <a:t>Análise Preditiva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B7A8A"/>
                </a:solidFill>
                <a:latin typeface="Calibri"/>
              </a:defRPr>
            </a:pPr>
            <a:r>
              <a:t>Breast Cancer Wisconsin (Original) — UCI Machine Learning Repository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João Victor Borges Carvalho</a:t>
            </a:r>
            <a:br/>
            <a:r>
              <a:t>Disciplina: Inteligência Artificial</a:t>
            </a:r>
            <a:br/>
            <a:r>
              <a:t>Implementação from scratch — Python puro + math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B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 Light"/>
              </a:defRPr>
            </a:pPr>
            <a:r>
              <a:t>Metodologia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7A8A"/>
                </a:solidFill>
                <a:latin typeface="Calibri"/>
              </a:defRPr>
            </a:pPr>
            <a:r>
              <a:t>Pipeline de Pré-processamento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1. Identificação do target (Class → 0/1)</a:t>
            </a:r>
          </a:p>
          <a:p>
            <a:pPr>
              <a:spcBef>
                <a:spcPts val="200"/>
              </a:spcBef>
              <a:defRPr sz="1300" b="0">
                <a:solidFill>
                  <a:srgbClr val="CCCCCC"/>
                </a:solidFill>
                <a:latin typeface="Calibri"/>
              </a:defRPr>
            </a:pPr>
            <a:r>
              <a:t>2. Análise de tipos, escala e estatísticas</a:t>
            </a:r>
          </a:p>
          <a:p>
            <a:pPr>
              <a:spcBef>
                <a:spcPts val="200"/>
              </a:spcBef>
              <a:defRPr sz="1300" b="0">
                <a:solidFill>
                  <a:srgbClr val="CCCCCC"/>
                </a:solidFill>
                <a:latin typeface="Calibri"/>
              </a:defRPr>
            </a:pPr>
            <a:r>
              <a:t>3. Split estratificado 80/20 (seed=42)</a:t>
            </a:r>
          </a:p>
          <a:p>
            <a:pPr>
              <a:spcBef>
                <a:spcPts val="200"/>
              </a:spcBef>
              <a:defRPr sz="1300" b="0">
                <a:solidFill>
                  <a:srgbClr val="CCCCCC"/>
                </a:solidFill>
                <a:latin typeface="Calibri"/>
              </a:defRPr>
            </a:pPr>
            <a:r>
              <a:t>4. Limpeza: 184 duplicatas removidas</a:t>
            </a:r>
          </a:p>
          <a:p>
            <a:pPr>
              <a:spcBef>
                <a:spcPts val="200"/>
              </a:spcBef>
              <a:defRPr sz="1300" b="0">
                <a:solidFill>
                  <a:srgbClr val="CCCCCC"/>
                </a:solidFill>
                <a:latin typeface="Calibri"/>
              </a:defRPr>
            </a:pPr>
            <a:r>
              <a:t>5. Outliers mantidos (contexto médico)</a:t>
            </a:r>
          </a:p>
          <a:p>
            <a:pPr>
              <a:spcBef>
                <a:spcPts val="200"/>
              </a:spcBef>
              <a:defRPr sz="1300" b="0">
                <a:solidFill>
                  <a:srgbClr val="CCCCCC"/>
                </a:solidFill>
                <a:latin typeface="Calibri"/>
              </a:defRPr>
            </a:pPr>
            <a:r>
              <a:t>6. Normalização Min-Max [0, 1]</a:t>
            </a:r>
          </a:p>
          <a:p>
            <a:pPr>
              <a:spcBef>
                <a:spcPts val="200"/>
              </a:spcBef>
              <a:defRPr sz="1300" b="0">
                <a:solidFill>
                  <a:srgbClr val="CCCCCC"/>
                </a:solidFill>
                <a:latin typeface="Calibri"/>
              </a:defRPr>
            </a:pPr>
            <a:r>
              <a:t>7. Correlação de Pearson — 9/9 features mantidas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7A8A"/>
                </a:solidFill>
                <a:latin typeface="Calibri"/>
              </a:defRPr>
            </a:pPr>
            <a:r>
              <a:t>Algoritmos (todos do zero)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8288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K-NN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14884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Distância euclidiana + votação majoritária (K=3, ímpar)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3017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Árvore C4.5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333756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Gain Ratio + poda por profundidade (d=3, 15 nós)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4206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MLP (Rede Neural)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526279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Forward + Backpropagation + SGD manuais (9→8→1, 500 épocas)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6217920"/>
            <a:ext cx="10698480" cy="27432"/>
          </a:xfrm>
          <a:prstGeom prst="rect">
            <a:avLst/>
          </a:prstGeom>
          <a:solidFill>
            <a:srgbClr val="1B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3093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99AA"/>
                </a:solidFill>
                <a:latin typeface="Calibri"/>
              </a:defRPr>
            </a:pPr>
            <a:r>
              <a:t>362 exemplos de treino  •  137 de teste  •  9 features  •  ~2.400 linhas de código  •  Zero bibliotecas externas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B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 Light"/>
              </a:defRPr>
            </a:pPr>
            <a:r>
              <a:t>Resultados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7A8A"/>
                </a:solidFill>
                <a:latin typeface="Calibri"/>
              </a:defRPr>
            </a:pPr>
            <a:r>
              <a:t>Modelo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137160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7A8A"/>
                </a:solidFill>
                <a:latin typeface="Calibri"/>
              </a:defRPr>
            </a:pPr>
            <a:r>
              <a:t>Acurácia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137160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7A8A"/>
                </a:solidFill>
                <a:latin typeface="Calibri"/>
              </a:defRPr>
            </a:pPr>
            <a:r>
              <a:t>Precisão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37160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7A8A"/>
                </a:solidFill>
                <a:latin typeface="Calibri"/>
              </a:defRPr>
            </a:pPr>
            <a:r>
              <a:t>Recall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137160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7A8A"/>
                </a:solidFill>
                <a:latin typeface="Calibri"/>
              </a:defRPr>
            </a:pPr>
            <a:r>
              <a:t>F1-Score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78308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0.3504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178308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0.3504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78308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1.0000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178308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0.5189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176272"/>
            <a:ext cx="9509760" cy="411480"/>
          </a:xfrm>
          <a:prstGeom prst="rect">
            <a:avLst/>
          </a:prstGeom>
          <a:solidFill>
            <a:srgbClr val="15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1945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7A8A"/>
                </a:solidFill>
                <a:latin typeface="Calibri"/>
              </a:defRPr>
            </a:pPr>
            <a:r>
              <a:t>K-NN (K=3)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19456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7A8A"/>
                </a:solidFill>
                <a:latin typeface="Calibri"/>
              </a:defRPr>
            </a:pPr>
            <a:r>
              <a:t>0.9781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19456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7A8A"/>
                </a:solidFill>
                <a:latin typeface="Calibri"/>
              </a:defRPr>
            </a:pPr>
            <a:r>
              <a:t>1.0000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219456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7A8A"/>
                </a:solidFill>
                <a:latin typeface="Calibri"/>
              </a:defRPr>
            </a:pPr>
            <a:r>
              <a:t>0.9375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219456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7A8A"/>
                </a:solidFill>
                <a:latin typeface="Calibri"/>
              </a:defRPr>
            </a:pPr>
            <a:r>
              <a:t>0.9677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6060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C4.5 (d=3)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260604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0.9708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260604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0.9783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260604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0.9375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260604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0.9574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0175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MLP (8 ocultos)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301752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0.9635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0" y="301752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0.9778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301752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0.9167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301752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0.9462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3840480"/>
            <a:ext cx="3474720" cy="2011680"/>
          </a:xfrm>
          <a:prstGeom prst="rect">
            <a:avLst/>
          </a:prstGeom>
          <a:solidFill>
            <a:srgbClr val="15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023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7A8A"/>
                </a:solidFill>
                <a:latin typeface="Calibri"/>
              </a:defRPr>
            </a:pPr>
            <a:r>
              <a:t>Precisão perfeita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4805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K-NN não gerou nenhum falso positivo — zero pacientes saudáveis receberam diagnóstico equivocado de câncer.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63440" y="3840480"/>
            <a:ext cx="3474720" cy="2011680"/>
          </a:xfrm>
          <a:prstGeom prst="rect">
            <a:avLst/>
          </a:prstGeom>
          <a:solidFill>
            <a:srgbClr val="15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46320" y="4023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7A8A"/>
                </a:solidFill>
                <a:latin typeface="Calibri"/>
              </a:defRPr>
            </a:pPr>
            <a:r>
              <a:t>93.75% de recall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46320" y="44805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Apenas 3 falsos negativos em 48 casos malignos. Recall é a métrica mais crítica em diagnóstico médico.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95360" y="3840480"/>
            <a:ext cx="3474720" cy="2011680"/>
          </a:xfrm>
          <a:prstGeom prst="rect">
            <a:avLst/>
          </a:prstGeom>
          <a:solidFill>
            <a:srgbClr val="15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78240" y="4023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7A8A"/>
                </a:solidFill>
                <a:latin typeface="Calibri"/>
              </a:defRPr>
            </a:pPr>
            <a:r>
              <a:t>C4.5 interpretável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78240" y="44805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15 nós, raiz clara (Uniformity of cell size). Dá pra explicar cada decisão para um médico.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0" y="6217920"/>
            <a:ext cx="5760720" cy="27432"/>
          </a:xfrm>
          <a:prstGeom prst="rect">
            <a:avLst/>
          </a:prstGeom>
          <a:solidFill>
            <a:srgbClr val="1B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63093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99AA"/>
                </a:solidFill>
                <a:latin typeface="Calibri"/>
              </a:defRPr>
            </a:pPr>
            <a:r>
              <a:t>Todos os algoritmos implementados do zero com Python puro — sem scikit-learn, pandas ou numpy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